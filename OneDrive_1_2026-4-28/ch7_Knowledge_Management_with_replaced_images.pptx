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4C3F41-31E6-4332-8B15-2A18131AF1BB}" type="datetimeFigureOut">
              <a:t>2026/4/21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125FF4-4459-4AA7-9D1A-D23301214093}" type="slidenum"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6798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Replacement image for 'signify': https://cdn-icons-png.flaticon.com/512/782/782615.png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Replacement image for 'strategically': https://cdn-icons-png.flaticon.com/512/2380/2380534.png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Replacement image for 'competence': https://cdn-icons-png.flaticon.com/512/2631/2631384.png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Replacement image for 'asset': https://cdn-icons-png.flaticon.com/512/12729/12729879.png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Replacement image for 'expertise': https://cdn-icons-png.flaticon.com/512/8744/8744991.png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Replacement image for 'revalidate': https://cdn-icons-png.flaticon.com/512/5530/5530117.png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Replacement image for 'tacit': https://cdn-icons-png.flaticon.com/512/2491/2491362.png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Replacement image for 'explicit': https://cdn-icons-png.flaticon.com/512/9217/9217570.png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Replacement image for 'accessible': https://cdn-icons-png.flaticon.com/512/11438/11438851.png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Replacement image for 'infra': https://cdn-icons-png.flaticon.com/512/11498/11498930.png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Replacement image for 'blanket': https://cdn-icons-png.flaticon.com/512/10199/10199387.png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Replacement image for 'tacit knowledge': https://cdn-icons-png.flaticon.com/512/7514/7514325.png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Replacement image for 'explicit knowledge': https://cdn-icons-png.flaticon.com/512/8327/8327994.png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Replacement image for 'share': https://cdn-icons-png.flaticon.com/512/5201/5201650.png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Replacement image for 'emergence': https://cdn-icons-png.flaticon.com/512/628/628297.png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Replacement image for 'regarded': https://cdn-icons-png.flaticon.com/512/1472/1472457.png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Replacement image for 'business sectors': https://cdn-icons-png.flaticon.com/512/5471/5471172.png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Replacement image for 'persistently': https://cdn-icons-png.flaticon.com/512/6403/6403841.png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Replacement image for 'ascertain': https://cdn-icons-png.flaticon.com/512/5524/5524445.png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Replacement image for 'utilize': https://cdn-icons-png.flaticon.com/512/5107/5107993.png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Replacement image for 'intellectual': https://cdn-icons-png.flaticon.com/512/8385/8385234.png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Replacement image for 'assemble': https://cdn-icons-png.flaticon.com/512/7468/7468192.png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Replacement image for 'formal': https://cdn-icons-png.flaticon.com/512/8664/8664029.png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Replacement image for 'systematic': https://cdn-icons-png.flaticon.com/512/7137/7137567.png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Replacement image for 'documented': https://cdn-icons-png.flaticon.com/512/4468/4468642.png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Replacement image for 'manuals': https://cdn-icons-png.flaticon.com/512/7159/7159392.png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Replacement image for 'inadequate': https://cdn-icons-png.flaticon.com/512/9462/9462187.png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Replacement image for 'budget': https://cdn-icons-png.flaticon.com/512/2132/2132820.png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Replacement image for 'infra-structure': https://cdn-icons-png.flaticon.com/512/3043/3043543.png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Replacement image for 'proposals': https://cdn-icons-png.flaticon.com/512/11518/11518591.png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Replacement image for 'priorities': https://cdn-icons-png.flaticon.com/512/14991/14991742.png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Replacement image for 'know-how': https://cdn-icons-png.flaticon.com/512/17322/17322440.png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Replacement image for 'impractical': https://cdn-icons-png.flaticon.com/512/9215/9215460.png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Replacement image for 'competitive advantage': https://cdn-icons-png.flaticon.com/512/16870/16870430.png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Replacement image for 'linchpin': https://cdn-icons-png.flaticon.com/512/2794/2794309.png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Replacement image for 'implementation plan': https://cdn-icons-png.flaticon.com/512/8435/8435792.png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Replacement image for 'short-term needs': https://cdn-icons-png.flaticon.com/512/8403/8403154.png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Replacement image for 'traditional economy': https://cdn-icons-png.flaticon.com/512/5145/5145191.png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Replacement image for 'knowledge economy': https://cdn-icons-png.flaticon.com/512/14509/14509818.png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Replacement image for 'point of responsibility': https://cdn-icons-png.flaticon.com/512/10966/10966374.png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4400" b="1">
                <a:solidFill>
                  <a:srgbClr val="363636"/>
                </a:solidFill>
                <a:latin typeface="Calibri"/>
              </a:rPr>
              <a:t>Chapter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2800" b="1">
                <a:solidFill>
                  <a:srgbClr val="43A047"/>
                </a:solidFill>
                <a:latin typeface="Calibri"/>
              </a:rPr>
              <a:t>Knowledge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600" b="0">
                <a:solidFill>
                  <a:srgbClr val="888888"/>
                </a:solidFill>
                <a:latin typeface="Calibri"/>
              </a:rPr>
              <a:t>TechEng · ch7 · Key Vocabulary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0" y="1463040"/>
            <a:ext cx="4572000" cy="4114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Calibri"/>
              </a:rPr>
              <a:t>Ch7 Knowledge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10312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3600" b="1">
                <a:solidFill>
                  <a:srgbClr val="363636"/>
                </a:solidFill>
                <a:latin typeface="Calibri"/>
              </a:rPr>
              <a:t>Vocabulary 1–11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2800" b="1">
                <a:solidFill>
                  <a:srgbClr val="363636"/>
                </a:solidFill>
                <a:latin typeface="Calibri"/>
              </a:rPr>
              <a:t>signify  (v.)  [ˈsɪɡnə.faɪ]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800" b="0">
                <a:solidFill>
                  <a:srgbClr val="363636"/>
                </a:solidFill>
                <a:latin typeface="Calibri"/>
              </a:rPr>
              <a:t>象徵；預示；表示。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補充：常用於描述某事物代表更深層的意義。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例： A red light signifies danger.</a:t>
            </a:r>
          </a:p>
        </p:txBody>
      </p:sp>
      <p:pic>
        <p:nvPicPr>
          <p:cNvPr id="5" name="Picture 4" descr="s03_signif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50" y="334670"/>
            <a:ext cx="1250900" cy="1250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2800" b="1">
                <a:solidFill>
                  <a:srgbClr val="363636"/>
                </a:solidFill>
                <a:latin typeface="Calibri"/>
              </a:rPr>
              <a:t>strategically  (adv.)  [strəˈtɪdʒɪkḷɪ]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800" b="0">
                <a:solidFill>
                  <a:srgbClr val="363636"/>
                </a:solidFill>
                <a:latin typeface="Calibri"/>
              </a:rPr>
              <a:t>策略性地；有戰略地。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補充：describes actions taken with a long-term plan in mind.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例： The company is strategically positioned in Asia.</a:t>
            </a:r>
          </a:p>
        </p:txBody>
      </p:sp>
      <p:pic>
        <p:nvPicPr>
          <p:cNvPr id="5" name="Picture 4" descr="s04_strategical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50" y="334670"/>
            <a:ext cx="1250900" cy="1250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2800" b="1">
                <a:solidFill>
                  <a:srgbClr val="363636"/>
                </a:solidFill>
                <a:latin typeface="Calibri"/>
              </a:rPr>
              <a:t>competence  (n.)  [ˈkɑmpətəns]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800" b="0">
                <a:solidFill>
                  <a:srgbClr val="363636"/>
                </a:solidFill>
                <a:latin typeface="Calibri"/>
              </a:rPr>
              <a:t>資格；能力；勝任。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補充：also: 財產、權限（法律語境）。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例： Technical competence is essential for engineers.</a:t>
            </a:r>
          </a:p>
        </p:txBody>
      </p:sp>
      <p:pic>
        <p:nvPicPr>
          <p:cNvPr id="5" name="Picture 4" descr="s05_compet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50" y="334670"/>
            <a:ext cx="1250900" cy="1250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2800" b="1">
                <a:solidFill>
                  <a:srgbClr val="363636"/>
                </a:solidFill>
                <a:latin typeface="Calibri"/>
              </a:rPr>
              <a:t>asset  (n.)  [ˈæsɛt]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800" b="0">
                <a:solidFill>
                  <a:srgbClr val="363636"/>
                </a:solidFill>
                <a:latin typeface="Calibri"/>
              </a:rPr>
              <a:t>資產；有價值的事物或人。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補充：knowledge can be the most important asset of a firm.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例： Employees are our greatest asset.</a:t>
            </a:r>
          </a:p>
        </p:txBody>
      </p:sp>
      <p:pic>
        <p:nvPicPr>
          <p:cNvPr id="5" name="Picture 4" descr="s06_as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50" y="334670"/>
            <a:ext cx="1250900" cy="1250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2800" b="1">
                <a:solidFill>
                  <a:srgbClr val="363636"/>
                </a:solidFill>
                <a:latin typeface="Calibri"/>
              </a:rPr>
              <a:t>expertise  (n.)  [ɛkspɚˈtiz]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800" b="0">
                <a:solidFill>
                  <a:srgbClr val="363636"/>
                </a:solidFill>
                <a:latin typeface="Calibri"/>
              </a:rPr>
              <a:t>專業技術；專門知識。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補充：often built up through years of practice.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例： She has expertise in data analysis.</a:t>
            </a:r>
          </a:p>
        </p:txBody>
      </p:sp>
      <p:pic>
        <p:nvPicPr>
          <p:cNvPr id="5" name="Picture 4" descr="s07_expert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50" y="334670"/>
            <a:ext cx="1250900" cy="1250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2800" b="1">
                <a:solidFill>
                  <a:srgbClr val="363636"/>
                </a:solidFill>
                <a:latin typeface="Calibri"/>
              </a:rPr>
              <a:t>revalidate  (v.)  [riˈvælə.det]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800" b="0">
                <a:solidFill>
                  <a:srgbClr val="363636"/>
                </a:solidFill>
                <a:latin typeface="Calibri"/>
              </a:rPr>
              <a:t>再確認；重新驗證。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補充：re- (再) + validate (確認)。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例： Knowledge must be revalidated regularly.</a:t>
            </a:r>
          </a:p>
        </p:txBody>
      </p:sp>
      <p:pic>
        <p:nvPicPr>
          <p:cNvPr id="5" name="Picture 4" descr="s08_revalid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50" y="334670"/>
            <a:ext cx="1250900" cy="1250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2800" b="1">
                <a:solidFill>
                  <a:srgbClr val="363636"/>
                </a:solidFill>
                <a:latin typeface="Calibri"/>
              </a:rPr>
              <a:t>tacit  (adj.)  [ˈtæsɪt]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800" b="0">
                <a:solidFill>
                  <a:srgbClr val="363636"/>
                </a:solidFill>
                <a:latin typeface="Calibri"/>
              </a:rPr>
              <a:t>無言的；緘默的；默示的。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補充：hard to articulate; lives in people's heads.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例： Experience produces tacit knowledge.</a:t>
            </a:r>
          </a:p>
        </p:txBody>
      </p:sp>
      <p:pic>
        <p:nvPicPr>
          <p:cNvPr id="5" name="Picture 4" descr="s09_tac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50" y="334670"/>
            <a:ext cx="1250900" cy="1250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2800" b="1">
                <a:solidFill>
                  <a:srgbClr val="363636"/>
                </a:solidFill>
                <a:latin typeface="Calibri"/>
              </a:rPr>
              <a:t>explicit  (adj.)  [ɪkˈsplɪsɪt]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800" b="0">
                <a:solidFill>
                  <a:srgbClr val="363636"/>
                </a:solidFill>
                <a:latin typeface="Calibri"/>
              </a:rPr>
              <a:t>明確的；清楚表達的。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補充：opposite of tacit; written down or documented.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例： The manual gives explicit instructions.</a:t>
            </a:r>
          </a:p>
        </p:txBody>
      </p:sp>
      <p:pic>
        <p:nvPicPr>
          <p:cNvPr id="5" name="Picture 4" descr="s10_explic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50" y="334670"/>
            <a:ext cx="1250900" cy="12509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2800" b="1">
                <a:solidFill>
                  <a:srgbClr val="363636"/>
                </a:solidFill>
                <a:latin typeface="Calibri"/>
              </a:rPr>
              <a:t>accessible  (adj.)  [ækˈsɛsəbḷ]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800" b="0">
                <a:solidFill>
                  <a:srgbClr val="363636"/>
                </a:solidFill>
                <a:latin typeface="Calibri"/>
              </a:rPr>
              <a:t>可取得的；易接近的。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補充：access (取用) + -ible (能夠的)。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例： Knowledge should be accessible to all staff.</a:t>
            </a:r>
          </a:p>
        </p:txBody>
      </p:sp>
      <p:pic>
        <p:nvPicPr>
          <p:cNvPr id="5" name="Picture 4" descr="s11_accessi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50" y="334670"/>
            <a:ext cx="1250900" cy="12509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2800" b="1">
                <a:solidFill>
                  <a:srgbClr val="363636"/>
                </a:solidFill>
                <a:latin typeface="Calibri"/>
              </a:rPr>
              <a:t>infra  (adj.)  [ˈɪnfrə]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800" b="0">
                <a:solidFill>
                  <a:srgbClr val="363636"/>
                </a:solidFill>
                <a:latin typeface="Calibri"/>
              </a:rPr>
              <a:t>基礎的；基層的（常作字首）。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補充：infra- 字首，如 infrastructure 基礎建設。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例： IT infra-structure supports KM.</a:t>
            </a:r>
          </a:p>
        </p:txBody>
      </p:sp>
      <p:pic>
        <p:nvPicPr>
          <p:cNvPr id="5" name="Picture 4" descr="s12_inf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50" y="334670"/>
            <a:ext cx="1250900" cy="12509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2800" b="1">
                <a:solidFill>
                  <a:srgbClr val="363636"/>
                </a:solidFill>
                <a:latin typeface="Calibri"/>
              </a:rPr>
              <a:t>blanket  (adj.)  [ˈblænkɪt]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800" b="0">
                <a:solidFill>
                  <a:srgbClr val="363636"/>
                </a:solidFill>
                <a:latin typeface="Calibri"/>
              </a:rPr>
              <a:t>總括的；全面的；包裹的。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補充：a blanket proposal covers everything at once.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例： They rejected the blanket solution.</a:t>
            </a:r>
          </a:p>
        </p:txBody>
      </p:sp>
      <p:pic>
        <p:nvPicPr>
          <p:cNvPr id="5" name="Picture 4" descr="s13_blan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50" y="334670"/>
            <a:ext cx="1250900" cy="12509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0" y="1463040"/>
            <a:ext cx="4572000" cy="4114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Calibri"/>
              </a:rPr>
              <a:t>Ch7 Knowledge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10312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3600" b="1">
                <a:solidFill>
                  <a:srgbClr val="363636"/>
                </a:solidFill>
                <a:latin typeface="Calibri"/>
              </a:rPr>
              <a:t>Terminology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2800" b="1">
                <a:solidFill>
                  <a:srgbClr val="363636"/>
                </a:solidFill>
                <a:latin typeface="Calibri"/>
              </a:rPr>
              <a:t>tacit knowledge  (n. phr.)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800" b="0">
                <a:solidFill>
                  <a:srgbClr val="363636"/>
                </a:solidFill>
                <a:latin typeface="Calibri"/>
              </a:rPr>
              <a:t>內隱知識。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補充：存在於人腦中、難以文件化的知識。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例： Craftsmanship is mostly tacit knowledge.</a:t>
            </a:r>
          </a:p>
        </p:txBody>
      </p:sp>
      <p:pic>
        <p:nvPicPr>
          <p:cNvPr id="5" name="Picture 4" descr="s15_tacit_knowle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50" y="334670"/>
            <a:ext cx="1250900" cy="12509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2800" b="1">
                <a:solidFill>
                  <a:srgbClr val="363636"/>
                </a:solidFill>
                <a:latin typeface="Calibri"/>
              </a:rPr>
              <a:t>explicit knowledge  (n. phr.)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800" b="0">
                <a:solidFill>
                  <a:srgbClr val="363636"/>
                </a:solidFill>
                <a:latin typeface="Calibri"/>
              </a:rPr>
              <a:t>外顯知識。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補充：可以被寫下、整理、傳遞的知識。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例： Manuals store explicit knowledge.</a:t>
            </a:r>
          </a:p>
        </p:txBody>
      </p:sp>
      <p:pic>
        <p:nvPicPr>
          <p:cNvPr id="5" name="Picture 4" descr="s16_explicit_knowle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50" y="334670"/>
            <a:ext cx="1250900" cy="12509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2800" b="1">
                <a:solidFill>
                  <a:srgbClr val="363636"/>
                </a:solidFill>
                <a:latin typeface="Calibri"/>
              </a:rPr>
              <a:t>share  (v. / n.)  [ʃɛr]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800" b="0">
                <a:solidFill>
                  <a:srgbClr val="363636"/>
                </a:solidFill>
                <a:latin typeface="Calibri"/>
              </a:rPr>
              <a:t>分享、分擔；一股（股票的基本單位）。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補充：KM emphasizes sharing knowledge across teams.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例： Employees share best practices online.</a:t>
            </a:r>
          </a:p>
        </p:txBody>
      </p:sp>
      <p:pic>
        <p:nvPicPr>
          <p:cNvPr id="5" name="Picture 4" descr="s17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50" y="334670"/>
            <a:ext cx="1250900" cy="12509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0" y="1463040"/>
            <a:ext cx="4572000" cy="4114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Calibri"/>
              </a:rPr>
              <a:t>Ch7 Knowledge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10312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3600" b="1">
                <a:solidFill>
                  <a:srgbClr val="363636"/>
                </a:solidFill>
                <a:latin typeface="Calibri"/>
              </a:rPr>
              <a:t>Paragraph 1 — The knowledge economy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2800" b="1">
                <a:solidFill>
                  <a:srgbClr val="363636"/>
                </a:solidFill>
                <a:latin typeface="Calibri"/>
              </a:rPr>
              <a:t>emergence  (n.)  [ɪˈmɝdʒəns]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800" b="0">
                <a:solidFill>
                  <a:srgbClr val="363636"/>
                </a:solidFill>
                <a:latin typeface="Calibri"/>
              </a:rPr>
              <a:t>出現；興起。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補充：emerge (v.) 的名詞形式。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例： The emergence of the knowledge economy.</a:t>
            </a:r>
          </a:p>
        </p:txBody>
      </p:sp>
      <p:pic>
        <p:nvPicPr>
          <p:cNvPr id="5" name="Picture 4" descr="s19_emerg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50" y="334670"/>
            <a:ext cx="1250900" cy="12509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2800" b="1">
                <a:solidFill>
                  <a:srgbClr val="363636"/>
                </a:solidFill>
                <a:latin typeface="Calibri"/>
              </a:rPr>
              <a:t>regarded  (v., p.p.)  [rɪˈɡɑrdɪd]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800" b="0">
                <a:solidFill>
                  <a:srgbClr val="363636"/>
                </a:solidFill>
                <a:latin typeface="Calibri"/>
              </a:rPr>
              <a:t>被視為；被看作。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補充：often used as 'regarded as …'.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例： Knowledge is regarded as a key asset.</a:t>
            </a:r>
          </a:p>
        </p:txBody>
      </p:sp>
      <p:pic>
        <p:nvPicPr>
          <p:cNvPr id="5" name="Picture 4" descr="s20_regar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50" y="334670"/>
            <a:ext cx="1250900" cy="12509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2800" b="1">
                <a:solidFill>
                  <a:srgbClr val="363636"/>
                </a:solidFill>
                <a:latin typeface="Calibri"/>
              </a:rPr>
              <a:t>business sectors  (n. phr.)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800" b="0">
                <a:solidFill>
                  <a:srgbClr val="363636"/>
                </a:solidFill>
                <a:latin typeface="Calibri"/>
              </a:rPr>
              <a:t>商業部門；產業別。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補充：e.g., manufacturing, finance, services.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例： KM spans many business sectors.</a:t>
            </a:r>
          </a:p>
        </p:txBody>
      </p:sp>
      <p:pic>
        <p:nvPicPr>
          <p:cNvPr id="5" name="Picture 4" descr="s21_business_sect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50" y="334670"/>
            <a:ext cx="1250900" cy="12509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0" y="1463040"/>
            <a:ext cx="4572000" cy="4114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Calibri"/>
              </a:rPr>
              <a:t>Ch7 Knowledge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10312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3600" b="1">
                <a:solidFill>
                  <a:srgbClr val="363636"/>
                </a:solidFill>
                <a:latin typeface="Calibri"/>
              </a:rPr>
              <a:t>Paragraph 2 — Definition of KM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2800" b="1">
                <a:solidFill>
                  <a:srgbClr val="363636"/>
                </a:solidFill>
                <a:latin typeface="Calibri"/>
              </a:rPr>
              <a:t>persistently  (adv.)  [pɚˈsɪstəntlɪ]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800" b="0">
                <a:solidFill>
                  <a:srgbClr val="363636"/>
                </a:solidFill>
                <a:latin typeface="Calibri"/>
              </a:rPr>
              <a:t>堅持地；持續地。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補充：describes continuous, repeated action.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例： The team persistently gathers feedback.</a:t>
            </a:r>
          </a:p>
        </p:txBody>
      </p:sp>
      <p:pic>
        <p:nvPicPr>
          <p:cNvPr id="5" name="Picture 4" descr="s23_persistent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50" y="334670"/>
            <a:ext cx="1250900" cy="12509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2800" b="1">
                <a:solidFill>
                  <a:srgbClr val="363636"/>
                </a:solidFill>
                <a:latin typeface="Calibri"/>
              </a:rPr>
              <a:t>ascertain  (v.)  [ˌæsɚˈten]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800" b="0">
                <a:solidFill>
                  <a:srgbClr val="363636"/>
                </a:solidFill>
                <a:latin typeface="Calibri"/>
              </a:rPr>
              <a:t>確定；查明。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補充：formal synonym of 'find out'.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例： We must ascertain the facts.</a:t>
            </a:r>
          </a:p>
        </p:txBody>
      </p:sp>
      <p:pic>
        <p:nvPicPr>
          <p:cNvPr id="5" name="Picture 4" descr="s24_ascert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50" y="334670"/>
            <a:ext cx="1250900" cy="12509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2800" b="1">
                <a:solidFill>
                  <a:srgbClr val="363636"/>
                </a:solidFill>
                <a:latin typeface="Calibri"/>
              </a:rPr>
              <a:t>utilize  (v.)  [ˈjutḷ.aɪz]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800" b="0">
                <a:solidFill>
                  <a:srgbClr val="363636"/>
                </a:solidFill>
                <a:latin typeface="Calibri"/>
              </a:rPr>
              <a:t>利用；使用（較正式）。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補充：more formal than 'use'.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例： Utilize existing knowledge assets.</a:t>
            </a:r>
          </a:p>
        </p:txBody>
      </p:sp>
      <p:pic>
        <p:nvPicPr>
          <p:cNvPr id="5" name="Picture 4" descr="s25_utiliz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50" y="334670"/>
            <a:ext cx="1250900" cy="12509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2800" b="1">
                <a:solidFill>
                  <a:srgbClr val="363636"/>
                </a:solidFill>
                <a:latin typeface="Calibri"/>
              </a:rPr>
              <a:t>intellectual  (adj.)  [ˌɪntḷˈɛktʃuəl]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800" b="0">
                <a:solidFill>
                  <a:srgbClr val="363636"/>
                </a:solidFill>
                <a:latin typeface="Calibri"/>
              </a:rPr>
              <a:t>智力的；知識的。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補充：intellectual property = 智慧財產。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例： Intellectual assets drive innovation.</a:t>
            </a:r>
          </a:p>
        </p:txBody>
      </p:sp>
      <p:pic>
        <p:nvPicPr>
          <p:cNvPr id="5" name="Picture 4" descr="s26_intellec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50" y="334670"/>
            <a:ext cx="1250900" cy="12509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2800" b="1">
                <a:solidFill>
                  <a:srgbClr val="363636"/>
                </a:solidFill>
                <a:latin typeface="Calibri"/>
              </a:rPr>
              <a:t>assemble  (v.)  [əˈsɛmbḷ]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800" b="0">
                <a:solidFill>
                  <a:srgbClr val="363636"/>
                </a:solidFill>
                <a:latin typeface="Calibri"/>
              </a:rPr>
              <a:t>組合；聚集；裝配。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補充：to bring pieces together into a whole.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例： Assemble the data before analysis.</a:t>
            </a:r>
          </a:p>
        </p:txBody>
      </p:sp>
      <p:pic>
        <p:nvPicPr>
          <p:cNvPr id="5" name="Picture 4" descr="s27_assem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50" y="334670"/>
            <a:ext cx="1250900" cy="12509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0" y="1463040"/>
            <a:ext cx="4572000" cy="4114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Calibri"/>
              </a:rPr>
              <a:t>Ch7 Knowledge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10312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3600" b="1">
                <a:solidFill>
                  <a:srgbClr val="363636"/>
                </a:solidFill>
                <a:latin typeface="Calibri"/>
              </a:rPr>
              <a:t>Paragraph 3 — Tacit vs. explicit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2800" b="1">
                <a:solidFill>
                  <a:srgbClr val="363636"/>
                </a:solidFill>
                <a:latin typeface="Calibri"/>
              </a:rPr>
              <a:t>formal  (adj.)  [ˈfɔrmḷ]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800" b="0">
                <a:solidFill>
                  <a:srgbClr val="363636"/>
                </a:solidFill>
                <a:latin typeface="Calibri"/>
              </a:rPr>
              <a:t>正式的；正規的。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補充：opposite of informal.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例： Manuals are a formal way to share knowledge.</a:t>
            </a:r>
          </a:p>
        </p:txBody>
      </p:sp>
      <p:pic>
        <p:nvPicPr>
          <p:cNvPr id="5" name="Picture 4" descr="s29_form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50" y="334670"/>
            <a:ext cx="1250900" cy="12509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2800" b="1">
                <a:solidFill>
                  <a:srgbClr val="363636"/>
                </a:solidFill>
                <a:latin typeface="Calibri"/>
              </a:rPr>
              <a:t>systematic  (adj.)  [ˌsɪstəˈmætɪk]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800" b="0">
                <a:solidFill>
                  <a:srgbClr val="363636"/>
                </a:solidFill>
                <a:latin typeface="Calibri"/>
              </a:rPr>
              <a:t>系統的；有系統的。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補充：from 'system'; organized, methodical.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例： Use a systematic approach to document knowledge.</a:t>
            </a:r>
          </a:p>
        </p:txBody>
      </p:sp>
      <p:pic>
        <p:nvPicPr>
          <p:cNvPr id="5" name="Picture 4" descr="s30_syst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50" y="334670"/>
            <a:ext cx="1250900" cy="12509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2800" b="1">
                <a:solidFill>
                  <a:srgbClr val="363636"/>
                </a:solidFill>
                <a:latin typeface="Calibri"/>
              </a:rPr>
              <a:t>documented  (adj.)  [ˈdɑkjəˌmɛntɪd]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800" b="0">
                <a:solidFill>
                  <a:srgbClr val="363636"/>
                </a:solidFill>
                <a:latin typeface="Calibri"/>
              </a:rPr>
              <a:t>有文件記錄的。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補充：documented knowledge = explicit knowledge.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例： Well-documented procedures reduce errors.</a:t>
            </a:r>
          </a:p>
        </p:txBody>
      </p:sp>
      <p:pic>
        <p:nvPicPr>
          <p:cNvPr id="5" name="Picture 4" descr="s31_documen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50" y="334670"/>
            <a:ext cx="1250900" cy="12509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2800" b="1">
                <a:solidFill>
                  <a:srgbClr val="363636"/>
                </a:solidFill>
                <a:latin typeface="Calibri"/>
              </a:rPr>
              <a:t>manuals  (n., pl.)  [ˈmænjuəlz]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800" b="0">
                <a:solidFill>
                  <a:srgbClr val="363636"/>
                </a:solidFill>
                <a:latin typeface="Calibri"/>
              </a:rPr>
              <a:t>手冊；操作指南。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補充：typical carriers of explicit knowledge.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例： Read the user manuals first.</a:t>
            </a:r>
          </a:p>
        </p:txBody>
      </p:sp>
      <p:pic>
        <p:nvPicPr>
          <p:cNvPr id="5" name="Picture 4" descr="s32_manu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50" y="334670"/>
            <a:ext cx="1250900" cy="12509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2800" b="1">
                <a:solidFill>
                  <a:srgbClr val="363636"/>
                </a:solidFill>
                <a:latin typeface="Calibri"/>
              </a:rPr>
              <a:t>inadequate  (adj.)  [ɪnˈædəkwɪt]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800" b="0">
                <a:solidFill>
                  <a:srgbClr val="363636"/>
                </a:solidFill>
                <a:latin typeface="Calibri"/>
              </a:rPr>
              <a:t>不足的；不充分的。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補充：in- (不) + adequate (足夠的)。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例： Manuals alone are inadequate.</a:t>
            </a:r>
          </a:p>
        </p:txBody>
      </p:sp>
      <p:pic>
        <p:nvPicPr>
          <p:cNvPr id="5" name="Picture 4" descr="s33_inadequ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50" y="334670"/>
            <a:ext cx="1250900" cy="12509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0" y="1463040"/>
            <a:ext cx="4572000" cy="4114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Calibri"/>
              </a:rPr>
              <a:t>Ch7 Knowledge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10312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3600" b="1">
                <a:solidFill>
                  <a:srgbClr val="363636"/>
                </a:solidFill>
                <a:latin typeface="Calibri"/>
              </a:rPr>
              <a:t>Paragraph 4 — KM in organizations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2800" b="1">
                <a:solidFill>
                  <a:srgbClr val="363636"/>
                </a:solidFill>
                <a:latin typeface="Calibri"/>
              </a:rPr>
              <a:t>budget  (n.)  [ˈbʌdʒɪt]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800" b="0">
                <a:solidFill>
                  <a:srgbClr val="363636"/>
                </a:solidFill>
                <a:latin typeface="Calibri"/>
              </a:rPr>
              <a:t>預算。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補充：KM initiatives need their own budget.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例： Allocate a budget for training.</a:t>
            </a:r>
          </a:p>
        </p:txBody>
      </p:sp>
      <p:pic>
        <p:nvPicPr>
          <p:cNvPr id="5" name="Picture 4" descr="s35_bud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50" y="334670"/>
            <a:ext cx="1250900" cy="12509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2800" b="1">
                <a:solidFill>
                  <a:srgbClr val="363636"/>
                </a:solidFill>
                <a:latin typeface="Calibri"/>
              </a:rPr>
              <a:t>infra-structure  (n.)  [ˈɪnfrəˌstrʌktʃɚ]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800" b="0">
                <a:solidFill>
                  <a:srgbClr val="363636"/>
                </a:solidFill>
                <a:latin typeface="Calibri"/>
              </a:rPr>
              <a:t>基礎設施；基礎建設。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補充：IT infra-structure 支撐 KM 運作。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例： A strong IT infra-structure is needed.</a:t>
            </a:r>
          </a:p>
        </p:txBody>
      </p:sp>
      <p:pic>
        <p:nvPicPr>
          <p:cNvPr id="5" name="Picture 4" descr="s36_infrastru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50" y="334670"/>
            <a:ext cx="1250900" cy="12509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2800" b="1">
                <a:solidFill>
                  <a:srgbClr val="363636"/>
                </a:solidFill>
                <a:latin typeface="Calibri"/>
              </a:rPr>
              <a:t>proposals  (n., pl.)  [prəˈpozḷz]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800" b="0">
                <a:solidFill>
                  <a:srgbClr val="363636"/>
                </a:solidFill>
                <a:latin typeface="Calibri"/>
              </a:rPr>
              <a:t>提案；建議書。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補充：propose (v.) + -al (n.)。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例： Submit KM proposals to management.</a:t>
            </a:r>
          </a:p>
        </p:txBody>
      </p:sp>
      <p:pic>
        <p:nvPicPr>
          <p:cNvPr id="5" name="Picture 4" descr="s37_propos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50" y="334670"/>
            <a:ext cx="1250900" cy="12509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2800" b="1">
                <a:solidFill>
                  <a:srgbClr val="363636"/>
                </a:solidFill>
                <a:latin typeface="Calibri"/>
              </a:rPr>
              <a:t>priorities  (n., pl.)  [praɪˈɔrətɪz]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800" b="0">
                <a:solidFill>
                  <a:srgbClr val="363636"/>
                </a:solidFill>
                <a:latin typeface="Calibri"/>
              </a:rPr>
              <a:t>優先事項；優先順序。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補充：singular form: priority.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例： Set clear priorities for the project.</a:t>
            </a:r>
          </a:p>
        </p:txBody>
      </p:sp>
      <p:pic>
        <p:nvPicPr>
          <p:cNvPr id="5" name="Picture 4" descr="s38_priorit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50" y="334670"/>
            <a:ext cx="1250900" cy="12509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0" y="1463040"/>
            <a:ext cx="4572000" cy="4114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Calibri"/>
              </a:rPr>
              <a:t>Ch7 Knowledge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10312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3600" b="1">
                <a:solidFill>
                  <a:srgbClr val="363636"/>
                </a:solidFill>
                <a:latin typeface="Calibri"/>
              </a:rPr>
              <a:t>Hard Words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2800" b="1">
                <a:solidFill>
                  <a:srgbClr val="363636"/>
                </a:solidFill>
                <a:latin typeface="Calibri"/>
              </a:rPr>
              <a:t>know-how  (n.)  [ˈnoˌhaʊ]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800" b="0">
                <a:solidFill>
                  <a:srgbClr val="363636"/>
                </a:solidFill>
                <a:latin typeface="Calibri"/>
              </a:rPr>
              <a:t>技術知識；實務竅門。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補充：often used to describe tacit skills.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例： Engineers build up know-how on the job.</a:t>
            </a:r>
          </a:p>
        </p:txBody>
      </p:sp>
      <p:pic>
        <p:nvPicPr>
          <p:cNvPr id="5" name="Picture 4" descr="s40_know_h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50" y="334670"/>
            <a:ext cx="1250900" cy="12509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2800" b="1">
                <a:solidFill>
                  <a:srgbClr val="363636"/>
                </a:solidFill>
                <a:latin typeface="Calibri"/>
              </a:rPr>
              <a:t>impractical  (adj.)  [ɪmˈpræktɪkḷ]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800" b="0">
                <a:solidFill>
                  <a:srgbClr val="363636"/>
                </a:solidFill>
                <a:latin typeface="Calibri"/>
              </a:rPr>
              <a:t>不切實際的；行不通的。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補充：im- (不) + practical (實用的)。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例： Sharing all tacit knowledge is impractical.</a:t>
            </a:r>
          </a:p>
        </p:txBody>
      </p:sp>
      <p:pic>
        <p:nvPicPr>
          <p:cNvPr id="5" name="Picture 4" descr="s41_impracti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50" y="334670"/>
            <a:ext cx="1250900" cy="12509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2800" b="1">
                <a:solidFill>
                  <a:srgbClr val="363636"/>
                </a:solidFill>
                <a:latin typeface="Calibri"/>
              </a:rPr>
              <a:t>competitive advantage  (n. phr.)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800" b="0">
                <a:solidFill>
                  <a:srgbClr val="363636"/>
                </a:solidFill>
                <a:latin typeface="Calibri"/>
              </a:rPr>
              <a:t>競爭優勢。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補充：core concept in business strategy.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例： KM can be a source of competitive advantage.</a:t>
            </a:r>
          </a:p>
        </p:txBody>
      </p:sp>
      <p:pic>
        <p:nvPicPr>
          <p:cNvPr id="5" name="Picture 4" descr="s42_competitive_advant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50" y="334670"/>
            <a:ext cx="1250900" cy="12509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2800" b="1">
                <a:solidFill>
                  <a:srgbClr val="363636"/>
                </a:solidFill>
                <a:latin typeface="Calibri"/>
              </a:rPr>
              <a:t>linchpin  (n.)  [ˈlɪntʃˌpɪn]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800" b="0">
                <a:solidFill>
                  <a:srgbClr val="363636"/>
                </a:solidFill>
                <a:latin typeface="Calibri"/>
              </a:rPr>
              <a:t>關鍵；樞紐人物/要素。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補充：出自參考文獻 Webb 1998。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例： Trust is the linchpin of KM.</a:t>
            </a:r>
          </a:p>
        </p:txBody>
      </p:sp>
      <p:pic>
        <p:nvPicPr>
          <p:cNvPr id="5" name="Picture 4" descr="s43_linchp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50" y="334670"/>
            <a:ext cx="1250900" cy="12509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2800" b="1">
                <a:solidFill>
                  <a:srgbClr val="363636"/>
                </a:solidFill>
                <a:latin typeface="Calibri"/>
              </a:rPr>
              <a:t>implementation plan  (n. phr.)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800" b="0">
                <a:solidFill>
                  <a:srgbClr val="363636"/>
                </a:solidFill>
                <a:latin typeface="Calibri"/>
              </a:rPr>
              <a:t>實施計畫；執行計畫。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補充：translates strategy into concrete steps.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例： Draft an implementation plan for KM.</a:t>
            </a:r>
          </a:p>
        </p:txBody>
      </p:sp>
      <p:pic>
        <p:nvPicPr>
          <p:cNvPr id="5" name="Picture 4" descr="s44_implementation_pl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50" y="334670"/>
            <a:ext cx="1250900" cy="12509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2800" b="1">
                <a:solidFill>
                  <a:srgbClr val="363636"/>
                </a:solidFill>
                <a:latin typeface="Calibri"/>
              </a:rPr>
              <a:t>short-term needs  (n. phr.)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800" b="0">
                <a:solidFill>
                  <a:srgbClr val="363636"/>
                </a:solidFill>
                <a:latin typeface="Calibri"/>
              </a:rPr>
              <a:t>短期需求。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補充：often contrasted with long-term needs.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例： Address short-term needs first.</a:t>
            </a:r>
          </a:p>
        </p:txBody>
      </p:sp>
      <p:pic>
        <p:nvPicPr>
          <p:cNvPr id="5" name="Picture 4" descr="s45_short_term_nee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50" y="334670"/>
            <a:ext cx="1250900" cy="12509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2800" b="1">
                <a:solidFill>
                  <a:srgbClr val="363636"/>
                </a:solidFill>
                <a:latin typeface="Calibri"/>
              </a:rPr>
              <a:t>traditional economy  (n. phr.)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800" b="0">
                <a:solidFill>
                  <a:srgbClr val="363636"/>
                </a:solidFill>
                <a:latin typeface="Calibri"/>
              </a:rPr>
              <a:t>傳統經濟。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補充：based mainly on land, labor, and capital.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例： The traditional economy valued physical assets.</a:t>
            </a:r>
          </a:p>
        </p:txBody>
      </p:sp>
      <p:pic>
        <p:nvPicPr>
          <p:cNvPr id="5" name="Picture 4" descr="s46_traditional_econ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50" y="334670"/>
            <a:ext cx="1250900" cy="12509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2800" b="1">
                <a:solidFill>
                  <a:srgbClr val="363636"/>
                </a:solidFill>
                <a:latin typeface="Calibri"/>
              </a:rPr>
              <a:t>knowledge economy  (n. phr.)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800" b="0">
                <a:solidFill>
                  <a:srgbClr val="363636"/>
                </a:solidFill>
                <a:latin typeface="Calibri"/>
              </a:rPr>
              <a:t>知識經濟。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補充：value comes from knowledge and information.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例： We live in a knowledge economy.</a:t>
            </a:r>
          </a:p>
        </p:txBody>
      </p:sp>
      <p:pic>
        <p:nvPicPr>
          <p:cNvPr id="5" name="Picture 4" descr="s47_knowledge_econ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50" y="334670"/>
            <a:ext cx="1250900" cy="12509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49040" y="137160"/>
            <a:ext cx="1645920" cy="1645920"/>
          </a:xfrm>
          <a:prstGeom prst="round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2800" b="1">
                <a:solidFill>
                  <a:srgbClr val="363636"/>
                </a:solidFill>
                <a:latin typeface="Calibri"/>
              </a:rPr>
              <a:t>point of responsibility  (n. phr.)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7772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1800" b="0">
                <a:solidFill>
                  <a:srgbClr val="363636"/>
                </a:solidFill>
                <a:latin typeface="Calibri"/>
              </a:rPr>
              <a:t>權責單位；負責單位/對象。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補充：the role or team accountable for KM.</a:t>
            </a:r>
          </a:p>
          <a:p>
            <a:pPr algn="ctr">
              <a:spcBef>
                <a:spcPts val="600"/>
              </a:spcBef>
            </a:pPr>
            <a:r>
              <a:rPr lang="en-US" sz="1400" b="0">
                <a:solidFill>
                  <a:srgbClr val="888888"/>
                </a:solidFill>
                <a:latin typeface="Calibri"/>
              </a:rPr>
              <a:t>例： Every KM initiative needs a point of responsibility.</a:t>
            </a:r>
          </a:p>
        </p:txBody>
      </p:sp>
      <p:pic>
        <p:nvPicPr>
          <p:cNvPr id="5" name="Picture 4" descr="s48_point_of_responsi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50" y="334670"/>
            <a:ext cx="1250900" cy="1250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8849C92EE5178546AEAEBF9957AE5FAD" ma:contentTypeVersion="3" ma:contentTypeDescription="建立新的文件。" ma:contentTypeScope="" ma:versionID="91636d74541bebf191b445bbfc83271f">
  <xsd:schema xmlns:xsd="http://www.w3.org/2001/XMLSchema" xmlns:xs="http://www.w3.org/2001/XMLSchema" xmlns:p="http://schemas.microsoft.com/office/2006/metadata/properties" xmlns:ns2="ca6a22a5-1676-428f-a2c5-a9b2d9689531" targetNamespace="http://schemas.microsoft.com/office/2006/metadata/properties" ma:root="true" ma:fieldsID="d6affd2691a47f9395f53306eaf78388" ns2:_="">
    <xsd:import namespace="ca6a22a5-1676-428f-a2c5-a9b2d96895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6a22a5-1676-428f-a2c5-a9b2d96895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92FF0B-C99F-4410-B896-DDB7242572C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3CD16E8-14E7-464E-8405-52A1067DD27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a6a22a5-1676-428f-a2c5-a9b2d968953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342B18C-0F0E-407D-848D-E4F651F5514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如螢幕大小 (16:9)</PresentationFormat>
  <Paragraphs>0</Paragraphs>
  <Slides>48</Slides>
  <Notes>40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48</vt:i4>
      </vt:variant>
    </vt:vector>
  </HeadingPairs>
  <TitlesOfParts>
    <vt:vector size="49" baseType="lpstr"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2</cp:revision>
  <dcterms:created xsi:type="dcterms:W3CDTF">2013-01-27T09:14:16Z</dcterms:created>
  <dcterms:modified xsi:type="dcterms:W3CDTF">2026-04-22T06:40:47Z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0x0101008849C92EE5178546AEAEBF9957AE5FAD</vt:lpwstr>
  </property>
</Properties>
</file>