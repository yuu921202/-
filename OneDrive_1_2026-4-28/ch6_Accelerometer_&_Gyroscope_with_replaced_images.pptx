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theme" Target="theme/theme1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100" Type="http://schemas.openxmlformats.org/officeDocument/2006/relationships/customXml" Target="../customXml/item3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93" Type="http://schemas.openxmlformats.org/officeDocument/2006/relationships/slide" Target="slides/slide87.xml"/><Relationship Id="rId98" Type="http://schemas.openxmlformats.org/officeDocument/2006/relationships/customXml" Target="../customXml/item1.xml"/><Relationship Id="rId3" Type="http://schemas.openxmlformats.org/officeDocument/2006/relationships/presProps" Target="presProps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customXml" Target="../customXml/item2.xml"/><Relationship Id="rId4" Type="http://schemas.openxmlformats.org/officeDocument/2006/relationships/viewProps" Target="viewProps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printerSettings" Target="printerSettings/printerSettings1.bin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lang="en-US">
                <a:solidFill>
                  <a:srgbClr val="363636"/>
                </a:solidFill>
                <a:latin typeface="Calibri"/>
              </a:rPr>
              <a:t>Ch6 Accelerometer &amp; Gyroscope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lang="en-US">
                <a:solidFill>
                  <a:srgbClr val="888888"/>
                </a:solidFill>
                <a:latin typeface="Calibri"/>
              </a:rPr>
              <a:t>依 ch6_marked_words.md 整理 — 涵蓋課前問題、段落畫線字與進階難字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</a:rPr>
              <a:t>Ch6 Accelerometer &amp; Gyroscope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 lang="en-US">
                <a:solidFill>
                  <a:srgbClr val="363636"/>
                </a:solidFill>
                <a:latin typeface="Calibri"/>
              </a:rPr>
              <a:t>Paragraph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5208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lang="en-US">
                <a:solidFill>
                  <a:srgbClr val="363636"/>
                </a:solidFill>
                <a:latin typeface="Calibri"/>
              </a:rPr>
              <a:t>Paragraph 1 — Accelerometers (p. 70)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000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lang="en-US">
                <a:solidFill>
                  <a:srgbClr val="888888"/>
                </a:solidFill>
                <a:latin typeface="Calibri"/>
              </a:rPr>
              <a:t>加速規的定義與應用；按課文畫線順序排列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yro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gyroscope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陀螺儀；迴轉儀。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補充：利用角動量原理來偵測或維持方向的裝置；課文編號 1。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Accelerometers and gyroscopes are devices widely used in contemporary portable electronic devices.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celero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accelerometer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加速規；加速度計。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補充：accelerate (v.)、acceleration (n.)；課文編號 2。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An accelerometer is a device that measures the acceleration of an object.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contemporary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當代的；現代的。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補充：contemporary = modern；contempora (拉丁字根「同時代」)。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Accelerometers and gyroscopes are widely used in contemporary portable electronic devices.</a:t>
            </a:r>
          </a:p>
        </p:txBody>
      </p:sp>
      <p:pic>
        <p:nvPicPr>
          <p:cNvPr id="5" name="Picture 4" descr="slide14_contempo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137" y="334670"/>
            <a:ext cx="749724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measure  (v. / 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測量 (v.)；措施、方法 (n.)。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補充：measurement (n.) 測量值；本段出現的 measures 為第三人稱單數動詞。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An accelerometer is a device that measures the acceleration of an object.</a:t>
            </a:r>
          </a:p>
        </p:txBody>
      </p:sp>
      <p:pic>
        <p:nvPicPr>
          <p:cNvPr id="5" name="Picture 4" descr="slide15_mea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50" y="334670"/>
            <a:ext cx="1250899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cel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acceleration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加速度。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補充：物體速度改變的快慢；單位 m/s²。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Acceleration is quantified in the unit meters per second per second (m/s²).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quantified  (v., p.p.)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被量化；以數值表示。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補充：quantify (v.) 量化；quantity (n.) 數量。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Acceleration is quantified in the unit meters per second per second (m/s²).</a:t>
            </a:r>
          </a:p>
        </p:txBody>
      </p:sp>
      <p:pic>
        <p:nvPicPr>
          <p:cNvPr id="5" name="Picture 4" descr="slide17_quant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50" y="334670"/>
            <a:ext cx="1250899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_fo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g-force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G 力；重力加速度。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補充：1 g ≈ 9.8 m/s²，常作為加速度的通俗單位。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Acceleration is popularly measured in terms of g-force (g).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sensitive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敏感的；靈敏的。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補充：sensitivity (n.) 靈敏度；sense (v./n.) 感知。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Highly sensitive accelerometers are components of inertial navigation systems.</a:t>
            </a:r>
          </a:p>
        </p:txBody>
      </p:sp>
      <p:pic>
        <p:nvPicPr>
          <p:cNvPr id="5" name="Picture 4" descr="slide19_sen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340" y="334670"/>
            <a:ext cx="1055318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component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組件；元件；零件。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補充：component = part/element；複數 components。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Accelerometers are components of inertial navigation systems for aircraft and missiles.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er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inertial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慣性的。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補充：inertia (n.) 慣性；inertial navigation system (INS) = 慣性導航系統；課文編號 3。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Accelerometers are components of inertial navigation systems for aircraft and missiles.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axis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軸 (複數 axes)。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補充：物體旋轉所繞的假想直線；x-axis、y-axis、z-axis；課文編號 4。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Single and multi-axis models of accelerometer are available to detect magnitude and direction of acceleration.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t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detect  (v.)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偵測；察覺。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補充：detection (n.)、detector (n.) 偵測器。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accelerometer can detect magnitude and direction of acceleration.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magnitude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大小；強度；量值。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補充：magnitude 相對於 direction — 物理量的「大小」與「方向」。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Accelerometers detect magnitude and direction of acceleration.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sense  (v. / 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感知；感應 (v.)；感覺、知覺 (n.)。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補充：sensor (n.) 感測器；sensitive (adj.) 敏感的。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Accelerometers can sense orientation, coordinate acceleration, vibration and shock.</a:t>
            </a:r>
          </a:p>
        </p:txBody>
      </p:sp>
      <p:pic>
        <p:nvPicPr>
          <p:cNvPr id="5" name="Picture 4" descr="slide25_s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50" y="579145"/>
            <a:ext cx="1250899" cy="7619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orientation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方位；方向；定位。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補充：orient (v.) 使朝向；課文編號 5。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screen adjusts based on the orientation of the device.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ordin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coordinate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座標；座標值。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補充：coordinate system = 座標系統；課文編號 6。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Accelerometers sense coordinate acceleration in 3D space.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vibration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震動；振動。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補充：vibrate (v.) 震動；手機的震動模式即利用此原理。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Electronic devices use accelerometers to detect vibration and shock.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shock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衝擊；撞擊。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補充：本課指物理性的突然撞擊，不是「電擊」或「驚嚇」。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 free-fall sensor detects shock when the device is falling.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align  (v.)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使對齊；使校直；使一致。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補充：alignment (n.) 對齊；本課指螢幕方向的對齊。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Electronic devices use accelerometers to align the screen depending on the direction the device is held.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portrait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肖像畫 (n.)；portrait mode = 直式模式。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補充：肖像畫多為直式構圖，故以其命名直式螢幕模式；課文編號 7。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screen switches between portrait and landscape modes.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landscape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山水畫、風景畫；風景 (n.)；landscape mode = 橫式模式。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補充：風景畫多為橫式構圖；課文編號 8。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screen switches between portrait and landscape modes.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cromach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micromachined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精密加工的；以微機械製程製作的。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補充：micro + machine，常用於 MEMS 感測器；課文編號 9。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Micromachined accelerometers are increasingly present in video game controllers.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</a:rPr>
              <a:t>Ch6 Accelerometer &amp; Gyroscope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 lang="en-US">
                <a:solidFill>
                  <a:srgbClr val="363636"/>
                </a:solidFill>
                <a:latin typeface="Calibri"/>
              </a:rPr>
              <a:t>Paragraph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5208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lang="en-US">
                <a:solidFill>
                  <a:srgbClr val="363636"/>
                </a:solidFill>
                <a:latin typeface="Calibri"/>
              </a:rPr>
              <a:t>Paragraph 2 — Free-fall sensor (pp. 70–71)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000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lang="en-US">
                <a:solidFill>
                  <a:srgbClr val="888888"/>
                </a:solidFill>
                <a:latin typeface="Calibri"/>
              </a:rPr>
              <a:t>自由落體感測器；按課文畫線順序排列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ee_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free-fall  (n. / 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自由落體（的）。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補充：指物體僅受重力作用而下落的狀態；free-fall sensor = 自由落體感測器。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 free-fall sensor is an accelerometer used to detect if a system has been dropped and is falling.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safety measures  (n., pl.)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安全措施。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補充：此處的 measures 意為「措施」而非「測量」。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It provides safety measures such as parking the head of a hard disk to prevent a head crash.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hard disk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硬碟。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補充：電腦中以磁性媒介儲存資料的主要裝置；跌落時讀寫頭易損壞。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accelerometer parks the head of a hard disk to prevent a head crash upon impact.</a:t>
            </a:r>
          </a:p>
        </p:txBody>
      </p:sp>
      <p:pic>
        <p:nvPicPr>
          <p:cNvPr id="5" name="Picture 4" descr="slide37_hard_d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825" y="334670"/>
            <a:ext cx="1002349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upon  (prep.)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在…之上；一…就。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補充：upon impact = 一受到衝擊；upon = on 的較正式用法。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device parks the hard disk head upon impact.</a:t>
            </a:r>
          </a:p>
        </p:txBody>
      </p:sp>
      <p:pic>
        <p:nvPicPr>
          <p:cNvPr id="5" name="Picture 4" descr="slide38_up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811" y="334670"/>
            <a:ext cx="1062377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impact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衝擊；碰撞。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補充：impact = shock 的同義語；課文編號 10。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accelerometer parks the hard disk head upon impact.</a:t>
            </a:r>
          </a:p>
        </p:txBody>
      </p:sp>
      <p:pic>
        <p:nvPicPr>
          <p:cNvPr id="5" name="Picture 4" descr="slide39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50" y="334670"/>
            <a:ext cx="1250899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_lo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data logger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數據紀錄儀。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補充：Terminology a；用來記錄感測數據（溫度、加速度等）的裝置。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Data loggers monitor handling operations for shipping containers.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monitor  (v. / 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監控、監測 (v.)；監視器 (n.)。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補充：本課用作動詞，指持續觀察與追蹤。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Data loggers monitor handling operations for shipping containers.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nd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handling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搬運；操作；處理。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補充：handle (v.) 處理、搬運；handling operations = 搬運作業。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sensor is used to monitor handling operations for shipping.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lcu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calculate  (v.)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計算。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補充：calculation (n.) 計算；本課指計算跌落高度。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length of time in free fall is used to calculate the height of drop.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t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estimate  (v. / 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估計；估算；預估。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補充：estimated (adj.) 預估的；estimation (n.)；p. 73 Families of Vocabulary。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Accelerometers are used to estimate the shock to the package.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consumer  (n. / 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消費者 (n.)；消費的 (adj.)。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補充：consume (v.) 消費；consumer electronics = 消費性電子產品。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This device is included in many common computer and consumer electronic products.</a:t>
            </a:r>
          </a:p>
        </p:txBody>
      </p:sp>
      <p:pic>
        <p:nvPicPr>
          <p:cNvPr id="5" name="Picture 4" descr="slide45_consu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397" y="334670"/>
            <a:ext cx="1217204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</a:rPr>
              <a:t>Ch6 Accelerometer &amp; Gyroscope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 lang="en-US">
                <a:solidFill>
                  <a:srgbClr val="363636"/>
                </a:solidFill>
                <a:latin typeface="Calibri"/>
              </a:rPr>
              <a:t>Paragraph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5208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lang="en-US">
                <a:solidFill>
                  <a:srgbClr val="363636"/>
                </a:solidFill>
                <a:latin typeface="Calibri"/>
              </a:rPr>
              <a:t>Paragraph 3 — Gyroscope structure (p. 71)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000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lang="en-US">
                <a:solidFill>
                  <a:srgbClr val="888888"/>
                </a:solidFill>
                <a:latin typeface="Calibri"/>
              </a:rPr>
              <a:t>陀螺儀的構造與運作；按課文畫線順序排列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cha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mechanical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機械的；機械式的。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補充：mechanic (n.) 技工；mechanism (n.) 機制。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 gyroscope is a mechanical device comprised of a rotor and gimbals.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i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comprised of  (phr.)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由……組成。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補充：be comprised of = consist of = be made up of。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 gyroscope is comprised of a rotor and two or more gimbals.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rotor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轉子；旋轉的構件。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補充：陀螺儀內部高速旋轉的核心部件；課文編號 11。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rotor is installed to spin about one axis.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im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gimbal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平衡環；萬向節；使羅盤針平衡之環。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補充：允許物體在多個軸上自由旋轉的機械結構；課文編號 12。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 gyroscope is comprised of a rotor and two or more gimbals.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mounted  (v., p.p.)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被安裝；被固定於。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補充：mount (v.) 安裝、架設；be mounted on = 被裝設在……上。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axis is mounted on an inner gimbal.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inner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內部的；裡面的。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補充：inner gimbal = 內平衡環；反義 outer。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inner gimbal is spinning about another axis.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spinning  (v., -ing)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旋轉中的；自轉的。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補充：spin (v.) 的現在分詞；過去式 spun。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inner gimbal is spinning about another axis.</a:t>
            </a:r>
          </a:p>
        </p:txBody>
      </p:sp>
      <p:pic>
        <p:nvPicPr>
          <p:cNvPr id="5" name="Picture 4" descr="slide53_spi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752" y="334670"/>
            <a:ext cx="1246494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outer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外部的；外面的。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補充：outer gimbal = 外平衡環；反義 inner。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outer gimbal or the gyroscope frame is mounted so as to pivot about an axis.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frame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框架；骨架；外殼結構。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補充：gyroscope frame = 陀螺儀的外部支撐結構。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outer gimbal or the gyroscope frame is mounted so as to pivot.</a:t>
            </a:r>
          </a:p>
        </p:txBody>
      </p:sp>
      <p:pic>
        <p:nvPicPr>
          <p:cNvPr id="5" name="Picture 4" descr="slide55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50" y="334670"/>
            <a:ext cx="1250899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pivot  (v. / 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繞樞軸旋轉 (v.)；樞軸、支點 (n.)。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補充：to pivot about an axis = 繞某一軸旋轉。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gyroscope frame is mounted so as to pivot about an axis.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support  (n. / v.)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支撐結構 (n.)；支撐、支持 (v.)。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補充：本課指物理上的支撐結構。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axis is in its own plane determined by the support.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multaneous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simultaneously  (adv.)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同時地。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補充：simultaneous (adj.) 同時的；simul- 字根「同時」。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rotor simultaneously spins about one axis and is capable of oscillating about the two other axes.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scill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oscillating  (v., -ing)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擺動的；振盪的。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補充：oscillate (v.) 擺動、振盪；oscillation (n.) 振盪。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rotor is capable of oscillating about the two other axes.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</a:rPr>
              <a:t>Ch6 Accelerometer &amp; Gyroscope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 lang="en-US">
                <a:solidFill>
                  <a:srgbClr val="363636"/>
                </a:solidFill>
                <a:latin typeface="Calibri"/>
              </a:rPr>
              <a:t>Paragraph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5208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lang="en-US">
                <a:solidFill>
                  <a:srgbClr val="363636"/>
                </a:solidFill>
                <a:latin typeface="Calibri"/>
              </a:rPr>
              <a:t>Paragraph 4 — History of the gyroscope (pp. 71–72)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000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lang="en-US">
                <a:solidFill>
                  <a:srgbClr val="888888"/>
                </a:solidFill>
                <a:latin typeface="Calibri"/>
              </a:rPr>
              <a:t>陀螺儀的歷史與早期導航應用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advent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出現；來臨；問世。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補充：the advent of X = X 的出現；常搭配 with。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advent of electric motors made it possible for developing gyrocompasses.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functional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功能的；可運作的；實用的。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補充：function (n.) 功能；functionality (n.) 功能性。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first functional gyrocompass was patented in 1904.</a:t>
            </a:r>
          </a:p>
        </p:txBody>
      </p:sp>
      <p:pic>
        <p:nvPicPr>
          <p:cNvPr id="5" name="Picture 4" descr="slide62_func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50" y="334670"/>
            <a:ext cx="1250899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yrocom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gyrocompass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陀螺儀羅盤。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補充：利用陀螺儀原理指北，不受磁場影響；課文編號 13。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Electric motors made it possible for developing gyrocompasses.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patent  (n. / v. / 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專利、專利權 (n.)；取得專利權 (v.)；有專利的 (adj.)。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補充：patent pending = 專利審查中；課文編號 14。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first functional gyrocompass was patented in 1904.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ven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inventor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發明人；發明家。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補充：invent (v.) 發明；invention (n.) 發明物；課文編號 15。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In early 20th century, inventors attempted to use gyroscopes as the basis for early navigational systems.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basis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基礎；基準 (複數 bases)。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補充：on the basis of = 根據；as the basis for = 作為…的基礎。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Inventors used gyroscopes as the basis for early navigational systems.</a:t>
            </a:r>
          </a:p>
        </p:txBody>
      </p:sp>
      <p:pic>
        <p:nvPicPr>
          <p:cNvPr id="5" name="Picture 4" descr="slide66_b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50" y="334670"/>
            <a:ext cx="1250899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navigational systems  (n., pl.)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導航系統。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補充：navigate (v.) 導航；navigational (adj.) 導航的。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Inventors used gyroscopes as the basis for early navigational systems.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inci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principles  (n., pl.)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原理；原則。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補充：principle 勿與 principal (校長；主要的) 混淆。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Similar principles were later employed in the development of inertial guidance systems.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ui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guidance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制導；導引；指引。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補充：guide (v.) 引導；inertial guidance = 慣性制導。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Similar principles were employed in the development of inertial guidance systems.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</a:rPr>
              <a:t>Ch6 Accelerometer &amp; Gyroscope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 lang="en-US">
                <a:solidFill>
                  <a:srgbClr val="363636"/>
                </a:solidFill>
                <a:latin typeface="Calibri"/>
              </a:rPr>
              <a:t>Paragraph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5208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lang="en-US">
                <a:solidFill>
                  <a:srgbClr val="363636"/>
                </a:solidFill>
                <a:latin typeface="Calibri"/>
              </a:rPr>
              <a:t>Paragraph 5 — WWII &amp; missiles (p. 72)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000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lang="en-US">
                <a:solidFill>
                  <a:srgbClr val="888888"/>
                </a:solidFill>
                <a:latin typeface="Calibri"/>
              </a:rPr>
              <a:t>二戰與飛彈應用；陀螺儀的小型化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lli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ballistic missiles  (n., pl.)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彈道飛彈。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補充：ballistic (adj.) 彈道的；missile (n.) 飛彈。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Similar principles were employed in the development of inertial guidance systems for ballistic missiles.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prime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主要的；首要的；最重要的。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補充：prime minister = 首相；prime component = 關鍵零件。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During WWII, the gyroscope became the prime component for aircraft.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miniaturize  (v.)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使小型化。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補充：miniaturization (n.)、miniature (adj./n.)；課文編號 16。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After the war, the race to miniaturize gyroscopes resulted in midget gyroscopes.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guided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導引的；制導的。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補充：guided missile = 導引飛彈；guide (v.) 引導。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Miniaturized gyroscopes were developed for guided missiles and weapons navigation systems.</a:t>
            </a:r>
          </a:p>
        </p:txBody>
      </p:sp>
      <p:pic>
        <p:nvPicPr>
          <p:cNvPr id="5" name="Picture 4" descr="slide74_gui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221" y="334670"/>
            <a:ext cx="1177556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manufacturing  (n. / 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製造；製造業。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補充：manufacture (v./n.) 製造；manufacturer (n.) 製造商。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race to miniaturize resulted in the development and manufacturing of midget gyroscopes.</a:t>
            </a:r>
          </a:p>
        </p:txBody>
      </p:sp>
      <p:pic>
        <p:nvPicPr>
          <p:cNvPr id="5" name="Picture 4" descr="slide75_manufactu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50" y="334670"/>
            <a:ext cx="1250899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midget  (n. / 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極小的個體 (n.)；極小的 (adj.)。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補充：本課指超小型的陀螺儀；課文編號 17。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race to miniaturize resulted in the development of midget gyroscopes.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resulted in  (phr., v.)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導致；造成 (某結果)。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補充：A resulted in B = A 造成 B；注意語序與 result from 相反。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race to miniaturize gyroscopes resulted in the development of midget gyroscopes.</a:t>
            </a:r>
          </a:p>
        </p:txBody>
      </p:sp>
      <p:pic>
        <p:nvPicPr>
          <p:cNvPr id="5" name="Picture 4" descr="slide77_resulted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50" y="368708"/>
            <a:ext cx="1250899" cy="1182823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</a:rPr>
              <a:t>Ch6 Accelerometer &amp; Gyroscope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 lang="en-US">
                <a:solidFill>
                  <a:srgbClr val="363636"/>
                </a:solidFill>
                <a:latin typeface="Calibri"/>
              </a:rPr>
              <a:t>Paragraph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5208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lang="en-US">
                <a:solidFill>
                  <a:srgbClr val="363636"/>
                </a:solidFill>
                <a:latin typeface="Calibri"/>
              </a:rPr>
              <a:t>Paragraph 6 — Consumer electronics (p. 72)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000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lang="en-US">
                <a:solidFill>
                  <a:srgbClr val="888888"/>
                </a:solidFill>
                <a:latin typeface="Calibri"/>
              </a:rPr>
              <a:t>現代消費性電子產品中的陀螺儀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compass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羅盤；指南針。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補充：compasses (複數)；課文編號 18。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In addition to being used in compasses, gyroscopes have been introduced into consumer electronics.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rotation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旋轉；自轉。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補充：rotate (v.)；rotational (adj.)；p. 73 Families of Vocabulary。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gyroscope allows for the calculation of orientation and rotation.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corpo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incorporated  (v., p.p.)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被併入；被納入。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補充：incorporate (v.) 併入；incorporation (n.) 合併。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Designers have incorporated gyroscopes into modern technology.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integration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整合；整併；結合。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補充：integrate (v.) 整合；integrated (adj.) 整合的。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integration of the gyroscope allows for more accurate recognition of movement.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cu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accurate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精確的；準確的。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補充：accuracy (n.) 精確度；反義 inaccurate。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gyroscope allows for more accurate recognition of movement within 3D space.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c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recognition  (n.)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辨識；識別。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補充：recognize (v.) 辨識；motion recognition = 動作辨識。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The integration allows for more accurate recognition of movement within 3D space.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previous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先前的；以前的。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補充：previously (adv.) 先前地；prev- 字根「在…之前」。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More accurate recognition than the previous lone accelerometer.</a:t>
            </a:r>
          </a:p>
        </p:txBody>
      </p:sp>
      <p:pic>
        <p:nvPicPr>
          <p:cNvPr id="5" name="Picture 4" descr="slide85_previ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640" y="334670"/>
            <a:ext cx="1000719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lone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單獨的；單一的。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補充：lone = alone/single；課文編號 19。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Better than the previous lone accelerometer.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frequently  (adv.)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經常地；頻繁地。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補充：frequency (n.) 頻率；frequent (adj.) 頻繁的。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Gyroscopes are frequently combined with accelerometers.</a:t>
            </a:r>
          </a:p>
        </p:txBody>
      </p:sp>
      <p:pic>
        <p:nvPicPr>
          <p:cNvPr id="5" name="Picture 4" descr="slide87_frequent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50" y="397826"/>
            <a:ext cx="1250899" cy="112458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combined  (v., p.p.)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被結合；被合併。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補充：combine (v.) 結合；combination (n.) 組合。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Gyroscopes are frequently combined with accelerometers for more robust sensing.</a:t>
            </a:r>
          </a:p>
        </p:txBody>
      </p:sp>
      <p:pic>
        <p:nvPicPr>
          <p:cNvPr id="5" name="Picture 4" descr="slide88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50" y="334670"/>
            <a:ext cx="1250899" cy="1250899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b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robust  (adj.)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強健的；穩健的；可靠的。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補充：robustness (n.) 強健性；課文編號 20。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Gyroscopes combined with accelerometers provide more robust direction- and motion-sensing.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rection__and_motion_sen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direction- and motion-sensing  (n. / adj.)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方向與運動（位移）感應。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補充：Terminology b；direction-sensing + motion-sensing 的複合詞。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More robust direction- and motion-sensing requires combining both sensors.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lang="en-US">
                <a:solidFill>
                  <a:srgbClr val="363636"/>
                </a:solidFill>
                <a:latin typeface="Calibri"/>
              </a:rPr>
              <a:t>integrate  (v.)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lang="en-US">
                <a:solidFill>
                  <a:srgbClr val="363636"/>
                </a:solidFill>
                <a:latin typeface="Calibri"/>
              </a:rPr>
              <a:t>整合；使結合。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補充：integrated (adj.)；integration (n.)；integrator (n.) 積分器。</a:t>
            </a:r>
          </a:p>
          <a:p>
            <a:pPr algn="ctr">
              <a:spcBef>
                <a:spcPts val="600"/>
              </a:spcBef>
            </a:pPr>
            <a:r>
              <a:rPr sz="1400" b="0" lang="en-US">
                <a:solidFill>
                  <a:srgbClr val="888888"/>
                </a:solidFill>
                <a:latin typeface="Calibri"/>
              </a:rPr>
              <a:t>例： Nintendo has integrated a gyroscope into the Wii Remote controller.</a:t>
            </a:r>
          </a:p>
        </p:txBody>
      </p:sp>
      <p:pic>
        <p:nvPicPr>
          <p:cNvPr id="5" name="Picture 4" descr="slide91_integ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550" y="334670"/>
            <a:ext cx="1250899" cy="12508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849C92EE5178546AEAEBF9957AE5FAD" ma:contentTypeVersion="3" ma:contentTypeDescription="建立新的文件。" ma:contentTypeScope="" ma:versionID="91636d74541bebf191b445bbfc83271f">
  <xsd:schema xmlns:xsd="http://www.w3.org/2001/XMLSchema" xmlns:xs="http://www.w3.org/2001/XMLSchema" xmlns:p="http://schemas.microsoft.com/office/2006/metadata/properties" xmlns:ns2="ca6a22a5-1676-428f-a2c5-a9b2d9689531" targetNamespace="http://schemas.microsoft.com/office/2006/metadata/properties" ma:root="true" ma:fieldsID="d6affd2691a47f9395f53306eaf78388" ns2:_="">
    <xsd:import namespace="ca6a22a5-1676-428f-a2c5-a9b2d96895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a22a5-1676-428f-a2c5-a9b2d96895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8B6EA05-1134-414E-8C0E-DE118D1653FE}"/>
</file>

<file path=customXml/itemProps2.xml><?xml version="1.0" encoding="utf-8"?>
<ds:datastoreItem xmlns:ds="http://schemas.openxmlformats.org/officeDocument/2006/customXml" ds:itemID="{47CE66E5-9C70-4A92-8774-7491A44A979F}"/>
</file>

<file path=customXml/itemProps3.xml><?xml version="1.0" encoding="utf-8"?>
<ds:datastoreItem xmlns:ds="http://schemas.openxmlformats.org/officeDocument/2006/customXml" ds:itemID="{22811158-B5D3-4920-BBA4-FB3972919504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0x0101008849C92EE5178546AEAEBF9957AE5FAD</vt:lpwstr>
  </property>
</Properties>
</file>