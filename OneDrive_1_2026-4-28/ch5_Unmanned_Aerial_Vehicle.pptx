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theme" Target="theme/theme1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customXml" Target="../customXml/item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printerSettings" Target="printerSettings/printerSettings1.bin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63636"/>
                </a:solidFill>
                <a:latin typeface="Calibri"/>
              </a:rPr>
              <a:t>Ch5 Unmanned Aerial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依課文出現順序排列，並加入段落分隔頁與較少見字義補充。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CH5 Unmanned Aerial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63636"/>
                </a:solidFill>
                <a:latin typeface="Calibri"/>
              </a:rPr>
              <a:t>Paragraph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以下單字皆出自 Ch5 課文的 Paragraph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主題：定義與核心特徵；依課文順序排列；依課文順序排列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unman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unmanned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無人操作的；無人值守的。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補充：常用於 unmanned aircraft / unmanned mission。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An unmanned aircraft does not need a pilot on 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空中的；航空的；(n.) 天線。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補充：本課主要用作形容詞，如 aerial vehicle。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Aerial vehicles move through the air rather than on the ground.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d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無人機；另可指雄蜂。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補充：在科技語境多指 small unmanned aircraft。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drone can film from a high angle.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irc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aircraft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航空器；飛行器。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補充：可統稱 plane, helicopter, UAV 等飛行載具。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An aircraft may be piloted by a human or by remote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飛行員。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補充：本課也會當動詞，pilot a vehicle = 操控飛行器。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pilot usually sits aboard the aircraft.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(adv./prep.) 在機上；上機。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補充：on board 的較正式說法，常用於飛機、船、火車。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No human operator is aboard a typical UAV.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pow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powered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由動力驅動的。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補充：a powered UAV 指有推進動力的無人機。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powered UAV can stay in the air by its own engine or propellers.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op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操作者；控制人員。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補充：human operator 指遠端控制 UAV 的人。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operator may guide the UAV from the ground.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ero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aerodynamic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空氣動力學的。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補充：aerodynamic forces 指讓飛行器產生升力與控制的力量。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Wings are shaped to create aerodynamic lift.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升力。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補充：本課不是「電梯」，而是讓 aircraft 上升的力。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Aerodynamic lift keeps the vehicle in the air.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utonomous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autonomously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(adv.) 自主地；自動地。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補充：autonomously 表示不需持續由人直接控制。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Some UAVs can fly autonomously for part of a 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(v.) 駕駛；操縱（飛行器）。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補充：be piloted remotely = 由遠端操控。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UAV can be piloted from a control station.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remote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remotely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(adv.) 遠端地；遙控地。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補充：本課不是「偏遠地」，而是從遠處控制。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aircraft may be remotely guided.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expend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expendable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可犧牲的；可拋棄的。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補充：軍事語境中指任務後不一定要回收。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Some early systems were considered expendable.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recove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recoverable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可回收的；可重新取回的。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補充：與 expendable 相對，強調任務後能回收再用。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recoverable UAV can be brought back safely.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leth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lethal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致命的。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補充：lethal / nonlethal payload 指致命／非致命載荷。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lethal payload can seriously injure or kill.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pay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有效載荷。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補充：指 UAV 實際攜帶的相機、感測器或武器等。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payload may be a camera, sensor, or missile.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gui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guided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導引的；受導引控制的。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補充：guided missile 指有導引系統的飛彈。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Some weapons are remotely guided after launch.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CH5 Unmanned Aerial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63636"/>
                </a:solidFill>
                <a:latin typeface="Calibri"/>
              </a:rPr>
              <a:t>Paragraph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以下單字皆出自 Ch5 課文的 Paragraph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主題：名稱、術語與系統概念；依課文順序排列；依課文順序排列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t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術語；專門用語。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補充：本課的 term 不是「學期」，而是專有名詞。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Different terms are used for the same concept.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c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coin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(v.) 創造（新詞）；首次使用某說法。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補充：coin a term = 杜撰或創造一個術語。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People coined the term drone because of its resemblance to a bee.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resemb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resemblance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相似；外表相似之處。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補充：外觀相似、行為相似都可用 resemblance。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drone has a resemblance to a bee.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dumb-l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dumb-looking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看起來不聰明的；外表愚鈍的。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補充：形容 drone 外觀簡單、似乎很難控制的印象。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UAVs had a dumb-looking appearance.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loud-and-regular_motor_s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loud-and-regular motor 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刺耳且規律的馬達聲。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補充：指蜜蜂嗡嗡的規律振翅聲。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sound resembled a bee's motor sound.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encou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encounter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(v.) 遇到；碰到。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補充：encounter opposition = 遇到反對。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name encountered opposition from aviation regulators.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op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opposition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反對；對抗。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補充：可作名詞或形容詞，表示反對的立場。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aviation community had opposition to the term.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reg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regulator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監管機構；調節器。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補充：aviation regulator = 航空局。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Aviation regulators had different opinions.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v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aviation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(n./adj.) 航空；飛行相關的。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補充：aviation industry / aviation safety = 航空產業、航空安全。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aviation industry uses this technology.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ground_control_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ground control 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地面控制站。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補充：UAV 操作人員所在的遠端控制中心。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operator monitors the UAV from a ground control station.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data_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data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數據連結；通訊鏈路。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補充：連接地面控制站與 UAV 的無線通訊。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data link transmits signals between operator and UAV.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support_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support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支援設備；輔助裝備。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補充：包括充電、維修等相關設備。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Support equipment is needed for operations.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U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UAS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Unmanned Aircraft System 無人機系統。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補充：比 UAV 更廣泛的術語，包含所有相關系統。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UAS includes the aircraft and ground control.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CH5 Unmanned Aerial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63636"/>
                </a:solidFill>
                <a:latin typeface="Calibri"/>
              </a:rPr>
              <a:t>Paragraph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以下單字皆出自 Ch5 課文的 Paragraph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主題：軍事應用與發展；依課文順序排列；依課文順序排列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miniatu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miniaturization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微型化；縮小。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補充：miniaturization technology = 使物體變小的技術。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Advances in miniaturization enabled smaller UAVs.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pplic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可適用的；適用的。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補充：applicable to = 適用於。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This technology is applicable to many missions.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eche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echelon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梯隊；層級。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補充：軍事術語，表示不同層級的部隊編制。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UAVs exist at multiple echelons of military operation.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pion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pioneer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(v./n.) 開創；先驅者。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補充：pioneer a technology = 開創一項技術。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Military leaders pioneered UAV development.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deploy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deployable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可部署的；可配置的。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補充：deployable system = 可以部署到戰場的系統。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Modern UAVs are highly deployable.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ircr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aircrew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飛行人員；機組人員。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補充：指駕駛飛機或 UAV 的人員。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An aircrew operates the vehicle.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surveil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監視；監督。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補充：surveillance camera / surveillance mission = 監視攝影機、監視任務。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UAVs are used for battlefield surveillance.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rm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armament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武裝；武器系統。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補充：armament system = 武裝系統。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Some UAVs carry armament for combat.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d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dull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沉悶的；乏味的。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補充：任務單調乏味，不危險但重複單調。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Surveillance is often a dull task.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recre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recreational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娛樂的；消遣的。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補充：recreational use = 娛樂用途。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Hobbyists use drones for recreational flying.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pol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policing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警務；執法。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補充：policing mission = 警務任務。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UAVs assist in policing operations.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drone_ra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drone 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無人機競速。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補充：新興的競技運動，操作無人機進行比賽。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Drone racing has become a popular sport.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erial_photogra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aerial photography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航拍；空中攝影。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補充：利用無人機進行的攝影、測量等。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Aerial photography is widely used in surveying.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CH5 Unmanned Aerial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63636"/>
                </a:solidFill>
                <a:latin typeface="Calibri"/>
              </a:rPr>
              <a:t>Paragraph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以下單字皆出自 Ch5 課文的 Paragraph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主題：分類標準與自動化；依課文順序排列；依課文順序排列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ut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自主性；自動化程度。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補充：degree of autonomy = 自主程度。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Modern UAVs have high autonomy.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intermittent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intermittently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(adv.) 間歇地；斷斷續續地。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補充：不連續，有時工作有時不工作。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system operates intermittently during long missions.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onboard_comp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onboard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機載電腦；車載電腦。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補充：安裝在 UAV 上的控制計算機。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onboard computer controls flight.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dec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decoy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誘餌；欺騙性物體。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補充：decoy missile = 誘餌飛彈。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Some UAVs serve as decoys.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gunn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gunnery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炮術；射擊。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補充：firing weapons = 發射武器的技術。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Gunnery systems require skilled operators.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reconnaiss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reconnaissance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偵察；探測。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補充：reconnaissance mission = 偵察任務。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UAVs conduct reconnaissance over large areas.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battlefield_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battlefield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戰場情報。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補充：在戰場上蒐集的即時情報。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Battlefield intelligence is critical for operations.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log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後勤；物資供應。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補充：logistics operation = 後勤任務。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UAVs help with logistics and supply.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cargo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貨物；貨運。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補充：cargo drone = 貨運無人機。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Some UAVs are designed to carry cargo.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design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designate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(v.) 指定；標定。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補充：designate a target = 標定目標。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Ground operators designate targets for the UAV.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in_terms_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in terms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(prep.) 就...而言；根據。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補充：分類或比較的標準。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In terms of range, UAVs vary greatly.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CH5 Unmanned Aerial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63636"/>
                </a:solidFill>
                <a:latin typeface="Calibri"/>
              </a:rPr>
              <a:t>Paragraph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以下單字皆出自 Ch5 課文的 Paragraph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主題：飛行特性與分類；依課文順序排列；依課文順序排列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航程；範圍。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補充：distance UAV can travel = 無人機能飛行的距離。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range of tactical UAVs is limited.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l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altitude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高度；海拔。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補充：flying altitude = 飛行高度。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Different UAVs operate at different altitudes.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tac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tactical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戰術的；戰場運用的。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補充：tactical UAV 通常支援較短程、較具體的作戰任務。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tactical UAV serves battlefield operations.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MALE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(abbr.) medium altitude, long endurance，中空長航時。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補充：指中高度、可長時間滯空的 UAV 類型。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MALE systems can stay aloft for extended missions.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H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HALE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(abbr.) high altitude, long endurance，高空長航時。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補充：比 MALE 飛得更高、續航更久。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HALE platforms are used for very wide-area missions.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M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Mach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馬赫，音速倍數單位。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補充：Mach 5 = 五倍音速；不是 machine 的縮寫。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Hypersonic flight begins above Mach 5.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hyperso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hypersonic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極超音速的。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補充：一般指超過 Mach 5 的飛行速度。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Hypersonic vehicles move far faster than sound.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suborb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suborbital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次軌道的。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補充：飛行高度很高，但仍未形成完整環繞地球的軌道。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suborbital path does not complete an orbit.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low_earth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low earth orbit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低地球軌道。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補充：常縮寫 LEO，指較接近地球的軌道範圍。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Some classifications extend up to low earth orbit.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CH5 Unmanned Aerial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63636"/>
                </a:solidFill>
                <a:latin typeface="Calibri"/>
              </a:rPr>
              <a:t>Paragraph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以下單字皆出自 Ch5 課文的 Paragraph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主題：小型與業餘級無人機；依課文順序排列；依課文順序排列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hobby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hobbyist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業餘愛好者。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補充：hobbyist UAVs 指玩家型、非專業用途的無人機。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hobbyist may buy a small ready-to-fly drone.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R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RTF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(abbr.) ready-to-fly，開箱即飛。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補充：指到手即可飛，無需組裝。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Many hobby drones are sold as RTF products.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C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COTS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(abbr.) commercial-off-the-shelf，商用現成品。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補充：直接購買現成標準零件組裝。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COTS components reduce development cost.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B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BNF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(abbr.) bind-and-fly，綁定後即可飛。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補充：玩家只要把遙控器與機體綁定，就能開始操作。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BNF drone needs only a compatible controller.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st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stealth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(adj./n.) 匿蹤的；匿蹤能力。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補充：stealth combat drones 強調不易被偵測。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Stealth designs reduce the chance of being detected.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CH5 Unmanned Aerial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63636"/>
                </a:solidFill>
                <a:latin typeface="Calibri"/>
              </a:rPr>
              <a:t>Paragraph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以下單字皆出自 Ch5 課文的 Paragraph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主題：重量分類；依課文順序排列；依課文順序排列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micro_air_vehi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micro air vehicle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(n.) 微型飛行器。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補充：常縮寫 MAV，通常極輕、體積極小。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 micro air vehicle can weigh less than one gram.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small_tac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small tactical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(adj./n.) 小型戰術級。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補充：輕量級戰術用無人機，重量較輕。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Small tactical UAVs are portable and deployable.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medium_tac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medium tactical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(adj./n.) 中型戰術級。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補充：中等大小的戰術用無人機。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Medium tactical UAVs carry more payload.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strate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strategic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63636"/>
                </a:solidFill>
                <a:latin typeface="Calibri"/>
              </a:rPr>
              <a:t>(adj.) 戰略的；策略的。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補充：strategic UAV = 戰略級無人機，大型、長航時。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Strategic UAVs operate over wide areas.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CH5 Unmanned Aerial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63636"/>
                </a:solidFill>
                <a:latin typeface="Calibri"/>
              </a:rPr>
              <a:t>Families of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Calibri"/>
              </a:rPr>
              <a:t>課文中出現的重要單字家族──掌握字根變化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operate___operator___op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operate / operator /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operate (v.)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operator (n.) 操作者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operation (n.) 操作;運作</a:t>
            </a: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operator conducts the operation to control the aircraft.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fly___flight__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fly / flight /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fly (v.)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flight (n.) 飛行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pilot (n.) 飛行員;(v.) 駕駛</a:t>
            </a: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The pilot commands the aircraft during flight.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rm___armed___arm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arm / armed / armament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arm (v.) 武裝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armed (adj.) 武裝的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armament (n.) 武器系統</a:t>
            </a: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Armed UAVs carry armament for combat missions.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pply___applicable__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apply / applicable /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apply (v.) 應用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applicable (adj.) 可適用的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application (n.) 應用;申請</a:t>
            </a: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This technology has many applications in applicable fields.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automate___autonomy___autonom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automate / autonomy / autonomous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automate (v.) 自動化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autonomy (n.) 自主性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autonomous (adj.) 自主的</a:t>
            </a: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Autonomous systems increase operational autonomy.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deploy___deployable__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deploy / deployable /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deploy (v.) 部署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deployable (adj.) 可部署的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deployment (n.) 部署</a:t>
            </a: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Deployable systems are ready for rapid deployment.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conduct___conductor___con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conduct / conductor / conduction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conduct (v.) 執行;傳導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conductor (n.) 導體;指揮者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conduction (n.) 導電</a:t>
            </a: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Ground crews conduct the mission via conduction of signals.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5_survey___surveil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63636"/>
                </a:solidFill>
                <a:latin typeface="Calibri"/>
              </a:rPr>
              <a:t>survey /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survey (v./n.) 調查;測量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363636"/>
                </a:solidFill>
                <a:latin typeface="Calibri"/>
              </a:rPr>
              <a:t>→  surveillance (n.) 監視;偵察</a:t>
            </a: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888888"/>
                </a:solidFill>
                <a:latin typeface="Calibri"/>
              </a:rPr>
              <a:t>例： Aerial surveys provide surveillance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849C92EE5178546AEAEBF9957AE5FAD" ma:contentTypeVersion="3" ma:contentTypeDescription="建立新的文件。" ma:contentTypeScope="" ma:versionID="91636d74541bebf191b445bbfc83271f">
  <xsd:schema xmlns:xsd="http://www.w3.org/2001/XMLSchema" xmlns:xs="http://www.w3.org/2001/XMLSchema" xmlns:p="http://schemas.microsoft.com/office/2006/metadata/properties" xmlns:ns2="ca6a22a5-1676-428f-a2c5-a9b2d9689531" targetNamespace="http://schemas.microsoft.com/office/2006/metadata/properties" ma:root="true" ma:fieldsID="d6affd2691a47f9395f53306eaf78388" ns2:_="">
    <xsd:import namespace="ca6a22a5-1676-428f-a2c5-a9b2d96895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a22a5-1676-428f-a2c5-a9b2d96895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76A77D-1DD4-4588-879A-D7784E08C948}"/>
</file>

<file path=customXml/itemProps2.xml><?xml version="1.0" encoding="utf-8"?>
<ds:datastoreItem xmlns:ds="http://schemas.openxmlformats.org/officeDocument/2006/customXml" ds:itemID="{77025D66-81BE-4CE9-A50E-BB4021DE8E04}"/>
</file>

<file path=customXml/itemProps3.xml><?xml version="1.0" encoding="utf-8"?>
<ds:datastoreItem xmlns:ds="http://schemas.openxmlformats.org/officeDocument/2006/customXml" ds:itemID="{62039179-0698-464F-B265-7AA435A7FB0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0x0101008849C92EE5178546AEAEBF9957AE5FAD</vt:lpwstr>
  </property>
</Properties>
</file>